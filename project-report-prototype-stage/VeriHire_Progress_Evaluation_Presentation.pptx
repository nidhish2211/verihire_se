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DDCBE"/>
                </a:solidFill>
                <a:latin typeface="Aptos"/>
              </a:rPr>
              <a:t>UCS503 • SOFTWARE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6400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5F7FA"/>
                </a:solidFill>
                <a:latin typeface="Aptos"/>
              </a:rPr>
              <a:t>VeriHire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938528"/>
            <a:ext cx="8686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A0ABB9"/>
                </a:solidFill>
                <a:latin typeface="Aptos"/>
              </a:rPr>
              <a:t>AI-Powered Job &amp; Internship Posting Verification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6060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7FA"/>
                </a:solidFill>
                <a:latin typeface="Aptos"/>
              </a:rPr>
              <a:t>PROGRESS EVALUATION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154680"/>
            <a:ext cx="6858000" cy="1143000"/>
          </a:xfrm>
          <a:prstGeom prst="roundRect">
            <a:avLst/>
          </a:prstGeom>
          <a:solidFill>
            <a:srgbClr val="131820"/>
          </a:solidFill>
          <a:ln w="8890">
            <a:solidFill>
              <a:srgbClr val="303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3456432"/>
            <a:ext cx="6309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F5F7FA"/>
                </a:solidFill>
                <a:latin typeface="Aptos"/>
              </a:rPr>
              <a:t>An explainable ML-assisted platform for assessing suspicious characteristics in job and internship postings.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09560" y="1143000"/>
            <a:ext cx="3429000" cy="3246120"/>
          </a:xfrm>
          <a:prstGeom prst="roundRect">
            <a:avLst/>
          </a:prstGeom>
          <a:solidFill>
            <a:srgbClr val="181F29"/>
          </a:solidFill>
          <a:ln w="8890">
            <a:solidFill>
              <a:srgbClr val="303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0" y="1444752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DDCBE"/>
                </a:solidFill>
                <a:latin typeface="Aptos"/>
              </a:rPr>
              <a:t>TEAM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1828800"/>
            <a:ext cx="2560320" cy="2331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5F7FA"/>
                </a:solidFill>
                <a:latin typeface="Aptos"/>
              </a:rPr>
              <a:t>Geet Rawal
1024160012
Nidhish
1024160013
Parvesh Lamba
1024160017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59893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0ABB9"/>
                </a:solidFill>
                <a:latin typeface="Aptos"/>
              </a:rPr>
              <a:t>Faculty Advisor: Dr. Jeelani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598932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A0ABB9"/>
                </a:solidFill>
                <a:latin typeface="Aptos"/>
              </a:rPr>
              <a:t>15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3DDCBE"/>
                </a:solidFill>
                <a:latin typeface="Aptos"/>
              </a:rPr>
              <a:t>01 / WHY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5F7FA"/>
                </a:solidFill>
                <a:latin typeface="Aptos"/>
              </a:rPr>
              <a:t>The problem we're solving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6510528"/>
            <a:ext cx="2194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A0ABB9"/>
                </a:solidFill>
                <a:latin typeface="Aptos"/>
              </a:rPr>
              <a:t>VERIHIRE • UCS503 | 2/6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5166360" cy="4526280"/>
          </a:xfrm>
          <a:prstGeom prst="roundRect">
            <a:avLst/>
          </a:prstGeom>
          <a:solidFill>
            <a:srgbClr val="131820"/>
          </a:solidFill>
          <a:ln w="8890">
            <a:solidFill>
              <a:srgbClr val="303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480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F5F7FA"/>
                </a:solidFill>
                <a:latin typeface="Aptos"/>
              </a:rPr>
              <a:t>Students can find opportunities easily.
The difficult part is deciding what to trust.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8892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DDCBE"/>
                </a:solidFill>
                <a:latin typeface="Aptos"/>
              </a:rPr>
              <a:t>COMMON SUSPICIOUS SIGNALS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82112"/>
            <a:ext cx="4389120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3DDCBE"/>
                </a:solidFill>
              </a:rPr>
              <a:t>• </a:t>
            </a:r>
            <a:r>
              <a:rPr sz="1300">
                <a:solidFill>
                  <a:srgbClr val="F5F7FA"/>
                </a:solidFill>
                <a:latin typeface="Aptos"/>
              </a:rPr>
              <a:t>Unrealistic salary or stipend claims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3DDCBE"/>
                </a:solidFill>
              </a:rPr>
              <a:t>• </a:t>
            </a:r>
            <a:r>
              <a:rPr sz="1300">
                <a:solidFill>
                  <a:srgbClr val="F5F7FA"/>
                </a:solidFill>
                <a:latin typeface="Aptos"/>
              </a:rPr>
              <a:t>Registration, application or training fees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3DDCBE"/>
                </a:solidFill>
              </a:rPr>
              <a:t>• </a:t>
            </a:r>
            <a:r>
              <a:rPr sz="1300">
                <a:solidFill>
                  <a:srgbClr val="F5F7FA"/>
                </a:solidFill>
                <a:latin typeface="Aptos"/>
              </a:rPr>
              <a:t>Generic or suspicious contact information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3DDCBE"/>
                </a:solidFill>
              </a:rPr>
              <a:t>• </a:t>
            </a:r>
            <a:r>
              <a:rPr sz="1300">
                <a:solidFill>
                  <a:srgbClr val="F5F7FA"/>
                </a:solidFill>
                <a:latin typeface="Aptos"/>
              </a:rPr>
              <a:t>Urgency / pressure-based wording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3DDCBE"/>
                </a:solidFill>
              </a:rPr>
              <a:t>• </a:t>
            </a:r>
            <a:r>
              <a:rPr sz="1300">
                <a:solidFill>
                  <a:srgbClr val="F5F7FA"/>
                </a:solidFill>
                <a:latin typeface="Aptos"/>
              </a:rPr>
              <a:t>Incomplete company or job information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3DDCBE"/>
                </a:solidFill>
              </a:rPr>
              <a:t>• </a:t>
            </a:r>
            <a:r>
              <a:rPr sz="1300">
                <a:solidFill>
                  <a:srgbClr val="F5F7FA"/>
                </a:solidFill>
                <a:latin typeface="Aptos"/>
              </a:rPr>
              <a:t>Qualification or experience inconsistencies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1417320"/>
            <a:ext cx="5577840" cy="4526280"/>
          </a:xfrm>
          <a:prstGeom prst="roundRect">
            <a:avLst/>
          </a:prstGeom>
          <a:solidFill>
            <a:srgbClr val="181F29"/>
          </a:solidFill>
          <a:ln w="8890">
            <a:solidFill>
              <a:srgbClr val="303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55080" y="1755648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5A64A"/>
                </a:solidFill>
                <a:latin typeface="Aptos"/>
              </a:rPr>
              <a:t>CURRENT GAP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212848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5F7FA"/>
                </a:solidFill>
                <a:latin typeface="Aptos"/>
              </a:rPr>
              <a:t>Manual verification 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633472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DDCBE"/>
                </a:solidFill>
                <a:latin typeface="Aptos"/>
              </a:rPr>
              <a:t>time-consuming and subjective.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3337560"/>
            <a:ext cx="4572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A0ABB9"/>
                </a:solidFill>
                <a:latin typeface="Aptos"/>
              </a:rPr>
              <a:t>VeriHire combines a web verification workflow with machine learning and interpretable suspicious signals.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4892040"/>
            <a:ext cx="1508760" cy="310896"/>
          </a:xfrm>
          <a:prstGeom prst="roundRect">
            <a:avLst/>
          </a:prstGeom>
          <a:solidFill>
            <a:srgbClr val="3D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55080" y="4901183"/>
            <a:ext cx="1508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0A0D12"/>
                </a:solidFill>
                <a:latin typeface="Aptos"/>
              </a:rPr>
              <a:t>RISK ASSESSMENT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1" y="4892040"/>
            <a:ext cx="1234440" cy="310896"/>
          </a:xfrm>
          <a:prstGeom prst="roundRect">
            <a:avLst/>
          </a:prstGeom>
          <a:solidFill>
            <a:srgbClr val="97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28431" y="4901183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0A0D12"/>
                </a:solidFill>
                <a:latin typeface="Aptos"/>
              </a:rPr>
              <a:t>EXPLANATION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27464" y="4892040"/>
            <a:ext cx="960120" cy="310896"/>
          </a:xfrm>
          <a:prstGeom prst="roundRect">
            <a:avLst/>
          </a:prstGeom>
          <a:solidFill>
            <a:srgbClr val="4B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427464" y="4901183"/>
            <a:ext cx="960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0A0D12"/>
                </a:solidFill>
                <a:latin typeface="Aptos"/>
              </a:rPr>
              <a:t>HISTORY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561320" y="4892040"/>
            <a:ext cx="914400" cy="310896"/>
          </a:xfrm>
          <a:prstGeom prst="roundRect">
            <a:avLst/>
          </a:prstGeom>
          <a:solidFill>
            <a:srgbClr val="F5A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561320" y="4901183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0A0D12"/>
                </a:solidFill>
                <a:latin typeface="Aptos"/>
              </a:rPr>
              <a:t>ANALYTICS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3DDCBE"/>
                </a:solidFill>
                <a:latin typeface="Aptos"/>
              </a:rPr>
              <a:t>02 / PRODUCT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5F7FA"/>
                </a:solidFill>
                <a:latin typeface="Aptos"/>
              </a:rPr>
              <a:t>What VeriHire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6510528"/>
            <a:ext cx="2194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A0ABB9"/>
                </a:solidFill>
                <a:latin typeface="Aptos"/>
              </a:rPr>
              <a:t>VERIHIRE • UCS503 | 3/6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2240280" cy="1874519"/>
          </a:xfrm>
          <a:prstGeom prst="roundRect">
            <a:avLst/>
          </a:prstGeom>
          <a:solidFill>
            <a:srgbClr val="131820"/>
          </a:solidFill>
          <a:ln w="8890">
            <a:solidFill>
              <a:srgbClr val="303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04671" y="2029968"/>
            <a:ext cx="438912" cy="310896"/>
          </a:xfrm>
          <a:prstGeom prst="roundRect">
            <a:avLst/>
          </a:prstGeom>
          <a:solidFill>
            <a:srgbClr val="4B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1" y="2039112"/>
            <a:ext cx="43891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0A0D12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2670048"/>
            <a:ext cx="18745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7FA"/>
                </a:solidFill>
                <a:latin typeface="Aptos"/>
              </a:rPr>
              <a:t>POSTING 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3090672"/>
            <a:ext cx="187451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0ABB9"/>
                </a:solidFill>
                <a:latin typeface="Aptos"/>
              </a:rPr>
              <a:t>Text / supported URL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07791" y="2724912"/>
            <a:ext cx="502920" cy="27432"/>
          </a:xfrm>
          <a:prstGeom prst="rect">
            <a:avLst/>
          </a:prstGeom>
          <a:solidFill>
            <a:srgbClr val="303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520439" y="1828800"/>
            <a:ext cx="2240280" cy="1874519"/>
          </a:xfrm>
          <a:prstGeom prst="roundRect">
            <a:avLst/>
          </a:prstGeom>
          <a:solidFill>
            <a:srgbClr val="131820"/>
          </a:solidFill>
          <a:ln w="8890">
            <a:solidFill>
              <a:srgbClr val="303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685031" y="2029968"/>
            <a:ext cx="438912" cy="310896"/>
          </a:xfrm>
          <a:prstGeom prst="roundRect">
            <a:avLst/>
          </a:prstGeom>
          <a:solidFill>
            <a:srgbClr val="97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85031" y="2039112"/>
            <a:ext cx="43891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0A0D12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5031" y="2670048"/>
            <a:ext cx="18745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7FA"/>
                </a:solidFill>
                <a:latin typeface="Aptos"/>
              </a:rPr>
              <a:t>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85031" y="3090672"/>
            <a:ext cx="187451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0ABB9"/>
                </a:solidFill>
                <a:latin typeface="Aptos"/>
              </a:rPr>
              <a:t>Features + ML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88152" y="2724912"/>
            <a:ext cx="502920" cy="27432"/>
          </a:xfrm>
          <a:prstGeom prst="rect">
            <a:avLst/>
          </a:prstGeom>
          <a:solidFill>
            <a:srgbClr val="303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400800" y="1828800"/>
            <a:ext cx="2240280" cy="1874519"/>
          </a:xfrm>
          <a:prstGeom prst="roundRect">
            <a:avLst/>
          </a:prstGeom>
          <a:solidFill>
            <a:srgbClr val="131820"/>
          </a:solidFill>
          <a:ln w="8890">
            <a:solidFill>
              <a:srgbClr val="303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565392" y="2029968"/>
            <a:ext cx="438912" cy="310896"/>
          </a:xfrm>
          <a:prstGeom prst="roundRect">
            <a:avLst/>
          </a:prstGeom>
          <a:solidFill>
            <a:srgbClr val="F5A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65392" y="2039112"/>
            <a:ext cx="43891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0A0D12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2670048"/>
            <a:ext cx="18745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7FA"/>
                </a:solidFill>
                <a:latin typeface="Aptos"/>
              </a:rPr>
              <a:t>RISK ASSESSMENT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3090672"/>
            <a:ext cx="187451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0ABB9"/>
                </a:solidFill>
                <a:latin typeface="Aptos"/>
              </a:rPr>
              <a:t>Low / Medium / High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68512" y="2724912"/>
            <a:ext cx="502920" cy="27432"/>
          </a:xfrm>
          <a:prstGeom prst="rect">
            <a:avLst/>
          </a:prstGeom>
          <a:solidFill>
            <a:srgbClr val="303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9281159" y="1828800"/>
            <a:ext cx="2240280" cy="1874519"/>
          </a:xfrm>
          <a:prstGeom prst="roundRect">
            <a:avLst/>
          </a:prstGeom>
          <a:solidFill>
            <a:srgbClr val="131820"/>
          </a:solidFill>
          <a:ln w="8890">
            <a:solidFill>
              <a:srgbClr val="303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9445751" y="2029968"/>
            <a:ext cx="438912" cy="310896"/>
          </a:xfrm>
          <a:prstGeom prst="roundRect">
            <a:avLst/>
          </a:prstGeom>
          <a:solidFill>
            <a:srgbClr val="3D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445751" y="2039112"/>
            <a:ext cx="43891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0A0D12"/>
                </a:solidFill>
                <a:latin typeface="Aptos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45751" y="2670048"/>
            <a:ext cx="18745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7FA"/>
                </a:solidFill>
                <a:latin typeface="Aptos"/>
              </a:rPr>
              <a:t>EXPLAINABLE RESULT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45751" y="3090672"/>
            <a:ext cx="187451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0ABB9"/>
                </a:solidFill>
                <a:latin typeface="Aptos"/>
              </a:rPr>
              <a:t>Signals + evidence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251960"/>
            <a:ext cx="3520440" cy="1417320"/>
          </a:xfrm>
          <a:prstGeom prst="roundRect">
            <a:avLst/>
          </a:prstGeom>
          <a:solidFill>
            <a:srgbClr val="181F29"/>
          </a:solidFill>
          <a:ln w="8890">
            <a:solidFill>
              <a:srgbClr val="303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4400" y="452628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DDCBE"/>
                </a:solidFill>
                <a:latin typeface="Aptos"/>
              </a:rPr>
              <a:t>STUDENT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4892040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5F7FA"/>
                </a:solidFill>
                <a:latin typeface="Aptos"/>
              </a:rPr>
              <a:t>Check posting • View result • View history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43400" y="4251960"/>
            <a:ext cx="3520440" cy="1417320"/>
          </a:xfrm>
          <a:prstGeom prst="roundRect">
            <a:avLst/>
          </a:prstGeom>
          <a:solidFill>
            <a:srgbClr val="181F29"/>
          </a:solidFill>
          <a:ln w="8890">
            <a:solidFill>
              <a:srgbClr val="303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617720" y="452628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769FF"/>
                </a:solidFill>
                <a:latin typeface="Aptos"/>
              </a:rPr>
              <a:t>SYSTEM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17720" y="4892040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5F7FA"/>
                </a:solidFill>
                <a:latin typeface="Aptos"/>
              </a:rPr>
              <a:t>Preprocess • Analyse • Explain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46720" y="4251960"/>
            <a:ext cx="3520440" cy="1417320"/>
          </a:xfrm>
          <a:prstGeom prst="roundRect">
            <a:avLst/>
          </a:prstGeom>
          <a:solidFill>
            <a:srgbClr val="181F29"/>
          </a:solidFill>
          <a:ln w="8890">
            <a:solidFill>
              <a:srgbClr val="303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321040" y="452628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5A64A"/>
                </a:solidFill>
                <a:latin typeface="Aptos"/>
              </a:rPr>
              <a:t>DASHBOARD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4892040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5F7FA"/>
                </a:solidFill>
                <a:latin typeface="Aptos"/>
              </a:rPr>
              <a:t>KPIs • Risk distribution • Trends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3DDCBE"/>
                </a:solidFill>
                <a:latin typeface="Aptos"/>
              </a:rPr>
              <a:t>03 / CURRENT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5F7FA"/>
                </a:solidFill>
                <a:latin typeface="Aptos"/>
              </a:rPr>
              <a:t>What we've built so far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6510528"/>
            <a:ext cx="2194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A0ABB9"/>
                </a:solidFill>
                <a:latin typeface="Aptos"/>
              </a:rPr>
              <a:t>VERIHIRE • UCS503 | 4/6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5486400" cy="4800600"/>
          </a:xfrm>
          <a:prstGeom prst="roundRect">
            <a:avLst/>
          </a:prstGeom>
          <a:solidFill>
            <a:srgbClr val="131820"/>
          </a:solidFill>
          <a:ln w="8890">
            <a:solidFill>
              <a:srgbClr val="303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68680" y="1737360"/>
            <a:ext cx="1234440" cy="310896"/>
          </a:xfrm>
          <a:prstGeom prst="roundRect">
            <a:avLst/>
          </a:prstGeom>
          <a:solidFill>
            <a:srgbClr val="49C9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746504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0A0D12"/>
                </a:solidFill>
                <a:latin typeface="Aptos"/>
              </a:rPr>
              <a:t>IMPLEMENTED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40280"/>
            <a:ext cx="4663440" cy="33467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49C984"/>
                </a:solidFill>
              </a:rPr>
              <a:t>• </a:t>
            </a:r>
            <a:r>
              <a:rPr sz="1300">
                <a:solidFill>
                  <a:srgbClr val="F5F7FA"/>
                </a:solidFill>
                <a:latin typeface="Aptos"/>
              </a:rPr>
              <a:t>Project scope &amp; requirements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49C984"/>
                </a:solidFill>
              </a:rPr>
              <a:t>• </a:t>
            </a:r>
            <a:r>
              <a:rPr sz="1300">
                <a:solidFill>
                  <a:srgbClr val="F5F7FA"/>
                </a:solidFill>
                <a:latin typeface="Aptos"/>
              </a:rPr>
              <a:t>Use-case and DFD refinement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49C984"/>
                </a:solidFill>
              </a:rPr>
              <a:t>• </a:t>
            </a:r>
            <a:r>
              <a:rPr sz="1300">
                <a:solidFill>
                  <a:srgbClr val="F5F7FA"/>
                </a:solidFill>
                <a:latin typeface="Aptos"/>
              </a:rPr>
              <a:t>React application foundation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49C984"/>
                </a:solidFill>
              </a:rPr>
              <a:t>• </a:t>
            </a:r>
            <a:r>
              <a:rPr sz="1300">
                <a:solidFill>
                  <a:srgbClr val="F5F7FA"/>
                </a:solidFill>
                <a:latin typeface="Aptos"/>
              </a:rPr>
              <a:t>Login / signup foundation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49C984"/>
                </a:solidFill>
              </a:rPr>
              <a:t>• </a:t>
            </a:r>
            <a:r>
              <a:rPr sz="1300">
                <a:solidFill>
                  <a:srgbClr val="F5F7FA"/>
                </a:solidFill>
                <a:latin typeface="Aptos"/>
              </a:rPr>
              <a:t>Constellation-based landing page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49C984"/>
                </a:solidFill>
              </a:rPr>
              <a:t>• </a:t>
            </a:r>
            <a:r>
              <a:rPr sz="1300">
                <a:solidFill>
                  <a:srgbClr val="F5F7FA"/>
                </a:solidFill>
                <a:latin typeface="Aptos"/>
              </a:rPr>
              <a:t>Authenticated dashboard structure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49C984"/>
                </a:solidFill>
              </a:rPr>
              <a:t>• </a:t>
            </a:r>
            <a:r>
              <a:rPr sz="1300">
                <a:solidFill>
                  <a:srgbClr val="F5F7FA"/>
                </a:solidFill>
                <a:latin typeface="Aptos"/>
              </a:rPr>
              <a:t>Dashboard KPIs and risk distribution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4800600"/>
          </a:xfrm>
          <a:prstGeom prst="roundRect">
            <a:avLst/>
          </a:prstGeom>
          <a:solidFill>
            <a:srgbClr val="181F29"/>
          </a:solidFill>
          <a:ln w="8890">
            <a:solidFill>
              <a:srgbClr val="303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583680" y="1737360"/>
            <a:ext cx="1234440" cy="310896"/>
          </a:xfrm>
          <a:prstGeom prst="roundRect">
            <a:avLst/>
          </a:prstGeom>
          <a:solidFill>
            <a:srgbClr val="4B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0" y="1746504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0A0D12"/>
                </a:solidFill>
                <a:latin typeface="Aptos"/>
              </a:rPr>
              <a:t>IN PROGRESS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240280"/>
            <a:ext cx="4480560" cy="246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4B91FF"/>
                </a:solidFill>
              </a:rPr>
              <a:t>• </a:t>
            </a:r>
            <a:r>
              <a:rPr sz="1300">
                <a:solidFill>
                  <a:srgbClr val="F5F7FA"/>
                </a:solidFill>
                <a:latin typeface="Aptos"/>
              </a:rPr>
              <a:t>Verification checker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4B91FF"/>
                </a:solidFill>
              </a:rPr>
              <a:t>• </a:t>
            </a:r>
            <a:r>
              <a:rPr sz="1300">
                <a:solidFill>
                  <a:srgbClr val="F5F7FA"/>
                </a:solidFill>
                <a:latin typeface="Aptos"/>
              </a:rPr>
              <a:t>Verification result interface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4B91FF"/>
                </a:solidFill>
              </a:rPr>
              <a:t>• </a:t>
            </a:r>
            <a:r>
              <a:rPr sz="1300">
                <a:solidFill>
                  <a:srgbClr val="F5F7FA"/>
                </a:solidFill>
                <a:latin typeface="Aptos"/>
              </a:rPr>
              <a:t>ML data preparation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4B91FF"/>
                </a:solidFill>
              </a:rPr>
              <a:t>• </a:t>
            </a:r>
            <a:r>
              <a:rPr sz="1300">
                <a:solidFill>
                  <a:srgbClr val="F5F7FA"/>
                </a:solidFill>
                <a:latin typeface="Aptos"/>
              </a:rPr>
              <a:t>Model comparison &amp; validation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4B91FF"/>
                </a:solidFill>
              </a:rPr>
              <a:t>• </a:t>
            </a:r>
            <a:r>
              <a:rPr sz="1300">
                <a:solidFill>
                  <a:srgbClr val="F5F7FA"/>
                </a:solidFill>
                <a:latin typeface="Aptos"/>
              </a:rPr>
              <a:t>Backend–frontend integration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8B2068D-3BF0-39BC-68B9-E2A99D690F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5578" y="4001686"/>
            <a:ext cx="3918203" cy="221623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E87BA35-941F-72B1-7C85-FE849A81FD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1538" y="3606410"/>
            <a:ext cx="4138422" cy="24798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3DDCBE"/>
                </a:solidFill>
                <a:latin typeface="Aptos"/>
              </a:rPr>
              <a:t>04 /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5F7FA"/>
                </a:solidFill>
                <a:latin typeface="Aptos"/>
              </a:rPr>
              <a:t>ML approach &amp; explainability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6510528"/>
            <a:ext cx="2194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A0ABB9"/>
                </a:solidFill>
                <a:latin typeface="Aptos"/>
              </a:rPr>
              <a:t>VERIHIRE • UCS503 | 5/6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7086600" cy="4800600"/>
          </a:xfrm>
          <a:prstGeom prst="roundRect">
            <a:avLst/>
          </a:prstGeom>
          <a:solidFill>
            <a:srgbClr val="131820"/>
          </a:solidFill>
          <a:ln w="8890">
            <a:solidFill>
              <a:srgbClr val="303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19072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DDCBE"/>
                </a:solidFill>
                <a:latin typeface="Aptos"/>
              </a:rPr>
              <a:t>CURRENT ML DESIGN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103120"/>
            <a:ext cx="6263640" cy="713232"/>
          </a:xfrm>
          <a:prstGeom prst="roundRect">
            <a:avLst/>
          </a:prstGeom>
          <a:solidFill>
            <a:srgbClr val="181F29"/>
          </a:solidFill>
          <a:ln w="8890">
            <a:solidFill>
              <a:srgbClr val="303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15568" y="2221991"/>
            <a:ext cx="1508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B91FF"/>
                </a:solidFill>
                <a:latin typeface="Aptos"/>
              </a:rPr>
              <a:t>Posting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194560"/>
            <a:ext cx="4297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Text + contextual features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999232"/>
            <a:ext cx="6263640" cy="713232"/>
          </a:xfrm>
          <a:prstGeom prst="roundRect">
            <a:avLst/>
          </a:prstGeom>
          <a:solidFill>
            <a:srgbClr val="181F29"/>
          </a:solidFill>
          <a:ln w="8890">
            <a:solidFill>
              <a:srgbClr val="303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15568" y="3118103"/>
            <a:ext cx="1508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9769FF"/>
                </a:solidFill>
                <a:latin typeface="Aptos"/>
              </a:rPr>
              <a:t>Feature extraction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3090672"/>
            <a:ext cx="4297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Payment • salary • contact • language • completeness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895344"/>
            <a:ext cx="6263640" cy="713232"/>
          </a:xfrm>
          <a:prstGeom prst="roundRect">
            <a:avLst/>
          </a:prstGeom>
          <a:solidFill>
            <a:srgbClr val="181F29"/>
          </a:solidFill>
          <a:ln w="8890">
            <a:solidFill>
              <a:srgbClr val="303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15568" y="4014215"/>
            <a:ext cx="1508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A64A"/>
                </a:solidFill>
                <a:latin typeface="Aptos"/>
              </a:rPr>
              <a:t>Candidate models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3986783"/>
            <a:ext cx="4297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Random Forest • Gradient Boosting • other supervised models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791456"/>
            <a:ext cx="6263640" cy="713232"/>
          </a:xfrm>
          <a:prstGeom prst="roundRect">
            <a:avLst/>
          </a:prstGeom>
          <a:solidFill>
            <a:srgbClr val="181F29"/>
          </a:solidFill>
          <a:ln w="8890">
            <a:solidFill>
              <a:srgbClr val="303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15568" y="4910328"/>
            <a:ext cx="1508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9C984"/>
                </a:solidFill>
                <a:latin typeface="Aptos"/>
              </a:rPr>
              <a:t>Evaluation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4882896"/>
            <a:ext cx="4297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Precision • Recall • F1 • Confusion Matrix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09560" y="1417320"/>
            <a:ext cx="3657600" cy="4800600"/>
          </a:xfrm>
          <a:prstGeom prst="roundRect">
            <a:avLst/>
          </a:prstGeom>
          <a:solidFill>
            <a:srgbClr val="181F29"/>
          </a:solidFill>
          <a:ln w="8890">
            <a:solidFill>
              <a:srgbClr val="303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0" y="1737360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5A64A"/>
                </a:solidFill>
                <a:latin typeface="Aptos"/>
              </a:rPr>
              <a:t>USER-FACING RESULT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2240280"/>
            <a:ext cx="1097280" cy="310896"/>
          </a:xfrm>
          <a:prstGeom prst="roundRect">
            <a:avLst/>
          </a:prstGeom>
          <a:solidFill>
            <a:srgbClr val="49C9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0" y="2249424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0A0D12"/>
                </a:solidFill>
                <a:latin typeface="Aptos"/>
              </a:rPr>
              <a:t>LOW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2807208"/>
            <a:ext cx="1097280" cy="310896"/>
          </a:xfrm>
          <a:prstGeom prst="roundRect">
            <a:avLst/>
          </a:prstGeom>
          <a:solidFill>
            <a:srgbClr val="F5A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600" y="281635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0A0D12"/>
                </a:solidFill>
                <a:latin typeface="Aptos"/>
              </a:rPr>
              <a:t>MEDIUM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3374136"/>
            <a:ext cx="1097280" cy="310896"/>
          </a:xfrm>
          <a:prstGeom prst="roundRect">
            <a:avLst/>
          </a:prstGeom>
          <a:solidFill>
            <a:srgbClr val="EB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600" y="3383280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0A0D12"/>
                </a:solidFill>
                <a:latin typeface="Aptos"/>
              </a:rPr>
              <a:t>HIGH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160520"/>
            <a:ext cx="283464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Aptos"/>
              </a:rPr>
              <a:t>+ Model confidence
+ Detected suspicious signals
+ Evidence from the posting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5623560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0ABB9"/>
                </a:solidFill>
                <a:latin typeface="Aptos"/>
              </a:rPr>
              <a:t>Decision support — not an absolute “fraud / genuine” verdict.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3DDCBE"/>
                </a:solidFill>
                <a:latin typeface="Aptos"/>
              </a:rPr>
              <a:t>05 / NEXT MILESTONE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5F7FA"/>
                </a:solidFill>
                <a:latin typeface="Aptos"/>
              </a:rPr>
              <a:t>Where we go from 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6510528"/>
            <a:ext cx="2194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A0ABB9"/>
                </a:solidFill>
                <a:latin typeface="Aptos"/>
              </a:rPr>
              <a:t>VERIHIRE • UCS503 | 6/6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3429000" cy="1508760"/>
          </a:xfrm>
          <a:prstGeom prst="roundRect">
            <a:avLst/>
          </a:prstGeom>
          <a:solidFill>
            <a:srgbClr val="131820"/>
          </a:solidFill>
          <a:ln w="8890">
            <a:solidFill>
              <a:srgbClr val="303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14400" y="1709928"/>
            <a:ext cx="502920" cy="310896"/>
          </a:xfrm>
          <a:prstGeom prst="roundRect">
            <a:avLst/>
          </a:prstGeom>
          <a:solidFill>
            <a:srgbClr val="3D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71907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0A0D12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709928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Aptos"/>
              </a:rPr>
              <a:t>Finish ML data prep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313432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A0ABB9"/>
                </a:solidFill>
                <a:latin typeface="Aptos"/>
              </a:rPr>
              <a:t>Nidhish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508760"/>
            <a:ext cx="3429000" cy="1508760"/>
          </a:xfrm>
          <a:prstGeom prst="roundRect">
            <a:avLst/>
          </a:prstGeom>
          <a:solidFill>
            <a:srgbClr val="131820"/>
          </a:solidFill>
          <a:ln w="8890">
            <a:solidFill>
              <a:srgbClr val="303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709160" y="1709928"/>
            <a:ext cx="502920" cy="310896"/>
          </a:xfrm>
          <a:prstGeom prst="roundRect">
            <a:avLst/>
          </a:prstGeom>
          <a:solidFill>
            <a:srgbClr val="97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09160" y="171907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0A0D12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1709928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Aptos"/>
              </a:rPr>
              <a:t>Select &amp; validate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2313432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A0ABB9"/>
                </a:solidFill>
                <a:latin typeface="Aptos"/>
              </a:rPr>
              <a:t>Nidhish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20" y="1508760"/>
            <a:ext cx="3429000" cy="1508760"/>
          </a:xfrm>
          <a:prstGeom prst="roundRect">
            <a:avLst/>
          </a:prstGeom>
          <a:solidFill>
            <a:srgbClr val="131820"/>
          </a:solidFill>
          <a:ln w="8890">
            <a:solidFill>
              <a:srgbClr val="303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503920" y="1709928"/>
            <a:ext cx="502920" cy="310896"/>
          </a:xfrm>
          <a:prstGeom prst="roundRect">
            <a:avLst/>
          </a:prstGeom>
          <a:solidFill>
            <a:srgbClr val="4B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03920" y="171907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0A0D12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20" y="1709928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Aptos"/>
              </a:rPr>
              <a:t>Integrate ML inference 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20" y="2313432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A0ABB9"/>
                </a:solidFill>
                <a:latin typeface="Aptos"/>
              </a:rPr>
              <a:t>Parvesh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474720"/>
            <a:ext cx="3429000" cy="1508760"/>
          </a:xfrm>
          <a:prstGeom prst="roundRect">
            <a:avLst/>
          </a:prstGeom>
          <a:solidFill>
            <a:srgbClr val="181F29"/>
          </a:solidFill>
          <a:ln w="8890">
            <a:solidFill>
              <a:srgbClr val="303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14400" y="3675887"/>
            <a:ext cx="502920" cy="310896"/>
          </a:xfrm>
          <a:prstGeom prst="roundRect">
            <a:avLst/>
          </a:prstGeom>
          <a:solidFill>
            <a:srgbClr val="F5A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3685031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0A0D12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3675887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Aptos"/>
              </a:rPr>
              <a:t>Complete checker + result UI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4279392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A0ABB9"/>
                </a:solidFill>
                <a:latin typeface="Aptos"/>
              </a:rPr>
              <a:t>Geet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80560" y="3474720"/>
            <a:ext cx="3429000" cy="1508760"/>
          </a:xfrm>
          <a:prstGeom prst="roundRect">
            <a:avLst/>
          </a:prstGeom>
          <a:solidFill>
            <a:srgbClr val="181F29"/>
          </a:solidFill>
          <a:ln w="8890">
            <a:solidFill>
              <a:srgbClr val="303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4709160" y="3675887"/>
            <a:ext cx="502920" cy="310896"/>
          </a:xfrm>
          <a:prstGeom prst="roundRect">
            <a:avLst/>
          </a:prstGeom>
          <a:solidFill>
            <a:srgbClr val="49C9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709160" y="3685031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0A0D12"/>
                </a:solidFill>
                <a:latin typeface="Aptos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94960" y="3675887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Aptos"/>
              </a:rPr>
              <a:t>History + analytics + testing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94960" y="4279392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A0ABB9"/>
                </a:solidFill>
                <a:latin typeface="Aptos"/>
              </a:rPr>
              <a:t>All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75320" y="3474720"/>
            <a:ext cx="3429000" cy="1508760"/>
          </a:xfrm>
          <a:prstGeom prst="roundRect">
            <a:avLst/>
          </a:prstGeom>
          <a:solidFill>
            <a:srgbClr val="181F29"/>
          </a:solidFill>
          <a:ln w="8890">
            <a:solidFill>
              <a:srgbClr val="303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8503920" y="3675887"/>
            <a:ext cx="502920" cy="310896"/>
          </a:xfrm>
          <a:prstGeom prst="roundRect">
            <a:avLst/>
          </a:prstGeom>
          <a:solidFill>
            <a:srgbClr val="3D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503920" y="3685031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0A0D12"/>
                </a:solidFill>
                <a:latin typeface="Aptos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89720" y="3675887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Aptos"/>
              </a:rPr>
              <a:t>Deployment &amp; final evaluation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89720" y="4279392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A0ABB9"/>
                </a:solidFill>
                <a:latin typeface="Aptos"/>
              </a:rPr>
              <a:t>All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5800" y="5532120"/>
            <a:ext cx="10927080" cy="640080"/>
          </a:xfrm>
          <a:prstGeom prst="roundRect">
            <a:avLst/>
          </a:prstGeom>
          <a:solidFill>
            <a:srgbClr val="131820"/>
          </a:solidFill>
          <a:ln w="8890">
            <a:solidFill>
              <a:srgbClr val="303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60120" y="5715000"/>
            <a:ext cx="10332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5F7FA"/>
                </a:solidFill>
                <a:latin typeface="Aptos"/>
              </a:rPr>
              <a:t>Current objective: move from a working product foundation to a validated end-to-end verification workflow.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432</Words>
  <Application>Microsoft Office PowerPoint</Application>
  <PresentationFormat>Widescreen</PresentationFormat>
  <Paragraphs>106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</dc:creator>
  <cp:keywords/>
  <dc:description>generated using python-pptx</dc:description>
  <cp:lastModifiedBy>geet rawal</cp:lastModifiedBy>
  <cp:revision>2</cp:revision>
  <dcterms:created xsi:type="dcterms:W3CDTF">2013-01-27T09:14:16Z</dcterms:created>
  <dcterms:modified xsi:type="dcterms:W3CDTF">2026-09-15T22:14:51Z</dcterms:modified>
  <cp:category/>
</cp:coreProperties>
</file>